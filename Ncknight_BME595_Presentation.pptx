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Roboto"/>
      <p:regular r:id="rId26"/>
      <p:bold r:id="rId27"/>
      <p:italic r:id="rId28"/>
      <p:boldItalic r:id="rId29"/>
    </p:embeddedFont>
    <p:embeddedFont>
      <p:font typeface="Old Standard TT"/>
      <p:regular r:id="rId30"/>
      <p:bold r:id="rId31"/>
      <p: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regular.fntdata"/><Relationship Id="rId25" Type="http://schemas.openxmlformats.org/officeDocument/2006/relationships/slide" Target="slides/slide20.xml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ldStandardTT-bold.fntdata"/><Relationship Id="rId30" Type="http://schemas.openxmlformats.org/officeDocument/2006/relationships/font" Target="fonts/OldStandardTT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OldStandardTT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6f83ffe39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6f83ffe39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6f83ffe39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6f83ffe39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f7eb89e44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f7eb89e44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f7eb89e44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f7eb89e44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f7eb89e44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f7eb89e44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f7eb89e44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f7eb89e44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6f8005106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6f8005106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f7eb89e44b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f7eb89e44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f7eb89e44b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f7eb89e44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f8005106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f8005106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6f8005106d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6f8005106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6f8005106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6f8005106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6f83ffe39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6f83ffe3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6f83ffe39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6f83ffe39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f7eb89e44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f7eb89e44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6f8005106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6f8005106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6f8005106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6f8005106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6f83ffe39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6f83ffe39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6f83ffe39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6f83ffe39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ECECEC"/>
                </a:solidFill>
                <a:highlight>
                  <a:srgbClr val="212121"/>
                </a:highlight>
                <a:latin typeface="Roboto"/>
                <a:ea typeface="Roboto"/>
                <a:cs typeface="Roboto"/>
                <a:sym typeface="Roboto"/>
              </a:rPr>
              <a:t>Electrofish: A Cardio-Aquatic Adventure with Microprocessors</a:t>
            </a:r>
            <a:endParaRPr sz="650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Nolan Knight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BME595 - BioInstrumentation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Physiology of Device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 Adult Sinus Rhythm [1],[2] 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71600"/>
            <a:ext cx="49458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typical rhythm of the heart consists of three main sections: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P-wave: The first electrical wave caused by atrial depolarization, depicting the smooth contraction of the atria.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QRS-complex: Ventricular depolarization, indicating the quick contraction of the ventricles to push blood out of the heart.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T-wave: Ventricular repolarization, signifying the recovery of the ventricles to their resting state.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7500" y="1171600"/>
            <a:ext cx="3727200" cy="348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 Overview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Device Hardware Overview</a:t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1562" y="963300"/>
            <a:ext cx="4840875" cy="4027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 Input: ECG Module</a:t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550" y="1197775"/>
            <a:ext cx="8570897" cy="378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 Output: Motor Driver</a:t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58225"/>
            <a:ext cx="8839201" cy="363758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9"/>
          <p:cNvSpPr txBox="1"/>
          <p:nvPr/>
        </p:nvSpPr>
        <p:spPr>
          <a:xfrm>
            <a:off x="7460250" y="781900"/>
            <a:ext cx="9117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PIN3.0</a:t>
            </a:r>
            <a:endParaRPr sz="12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97" name="Google Shape;97;p19"/>
          <p:cNvSpPr txBox="1"/>
          <p:nvPr/>
        </p:nvSpPr>
        <p:spPr>
          <a:xfrm>
            <a:off x="8088350" y="781900"/>
            <a:ext cx="10974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PWM: 75%</a:t>
            </a:r>
            <a:endParaRPr sz="12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Motor Driver : H - Bridge [3]</a:t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713" y="1058225"/>
            <a:ext cx="8628582" cy="3780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Overview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Analog to Digital Converter [4]</a:t>
            </a:r>
            <a:endParaRPr/>
          </a:p>
        </p:txBody>
      </p:sp>
      <p:pic>
        <p:nvPicPr>
          <p:cNvPr id="114" name="Google Shape;1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0625"/>
            <a:ext cx="8839201" cy="3119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Pulse Width Modulation [5]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53100" y="1554500"/>
            <a:ext cx="4718100" cy="24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 Code: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TB0CCR0 = 128;                         	     	// PWM Period/2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TB0CCTL1 = OUTMOD_6;                  	// TBCCR1 toggle/set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TB0CCR1 = 96;                          	      	// TBCCR1 PWM duty cycle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TB0CTL = TBSSEL_1 | MC_3;             	// ACLK, up-down mode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PWM: (96/128) * 100 = 75%</a:t>
            </a:r>
            <a:endParaRPr/>
          </a:p>
        </p:txBody>
      </p:sp>
      <p:pic>
        <p:nvPicPr>
          <p:cNvPr id="121" name="Google Shape;12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1200" y="1210625"/>
            <a:ext cx="3768000" cy="2960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Device Calibration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ECG Module [6], [7]</a:t>
            </a:r>
            <a:endParaRPr/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311700" y="1171600"/>
            <a:ext cx="43662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Signal Conditioning: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 and Low Pass Filters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Remove Noise and small muscle movements.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Amplification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Increases the voltage potential to ensure signal strength and signal integrity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DC - Offset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Allows the microprocessor to handle analog signal as it is not equipped to handle bipolar signal. Vref = 1.5V</a:t>
            </a:r>
            <a:endParaRPr/>
          </a:p>
        </p:txBody>
      </p:sp>
      <p:pic>
        <p:nvPicPr>
          <p:cNvPr id="133" name="Google Shape;13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7025" y="1567925"/>
            <a:ext cx="1969300" cy="260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7897" y="1567925"/>
            <a:ext cx="2228628" cy="260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Post-Processing - ECG Module</a:t>
            </a:r>
            <a:endParaRPr/>
          </a:p>
        </p:txBody>
      </p:sp>
      <p:pic>
        <p:nvPicPr>
          <p:cNvPr id="140" name="Google Shape;140;p26"/>
          <p:cNvPicPr preferRelativeResize="0"/>
          <p:nvPr/>
        </p:nvPicPr>
        <p:blipFill rotWithShape="1">
          <a:blip r:embed="rId3">
            <a:alphaModFix/>
          </a:blip>
          <a:srcRect b="31082" l="0" r="25278" t="0"/>
          <a:stretch/>
        </p:blipFill>
        <p:spPr>
          <a:xfrm>
            <a:off x="3914128" y="1642650"/>
            <a:ext cx="4918175" cy="260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311700" y="1357875"/>
            <a:ext cx="3496800" cy="35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Voltage </a:t>
            </a:r>
            <a:r>
              <a:rPr lang="en"/>
              <a:t>Offset</a:t>
            </a:r>
            <a:r>
              <a:rPr lang="en"/>
              <a:t>: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Vref = 1.5V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Physiology: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P-Wave: ~1.75V Peak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QRS-Complex: 3.3V Peak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T-Wave: ~2.1V Peak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Post-Processing - Motor Trigger</a:t>
            </a:r>
            <a:endParaRPr/>
          </a:p>
        </p:txBody>
      </p:sp>
      <p:pic>
        <p:nvPicPr>
          <p:cNvPr id="147" name="Google Shape;14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600" y="1058225"/>
            <a:ext cx="7951899" cy="37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Works Cited</a:t>
            </a:r>
            <a:endParaRPr/>
          </a:p>
        </p:txBody>
      </p:sp>
      <p:sp>
        <p:nvSpPr>
          <p:cNvPr id="153" name="Google Shape;153;p28"/>
          <p:cNvSpPr txBox="1"/>
          <p:nvPr>
            <p:ph idx="1" type="body"/>
          </p:nvPr>
        </p:nvSpPr>
        <p:spPr>
          <a:xfrm>
            <a:off x="311700" y="1171600"/>
            <a:ext cx="8520600" cy="38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[1]	“QRS Complex.” Wikipedia, Wikimedia Foundation, 8 Apr. 2024, en.wikipedia.org/wiki/QRS_complex. </a:t>
            </a:r>
            <a:endParaRPr sz="12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/>
              <a:t>[2]	Ayano, Yehualashet Megersa, et al. “Interpretable Machine Learning Techniques in ECG-Based Heart Disease </a:t>
            </a:r>
            <a:endParaRPr sz="12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Classification: A Systematic Review.” Diagnostics (Basel, Switzerland), U.S. National Library of Medicine, 29 Dec. 2022, www.ncbi.nlm.nih.gov/pmc/articles/PMC9818170/. </a:t>
            </a:r>
            <a:endParaRPr sz="1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[3] 	Tantos, Andras. “H Bridges - The Basics.” Modular Circuits, 2011, 		</a:t>
            </a:r>
            <a:endParaRPr sz="1200"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www.modularcircuits.com/blog/articles/h-bridge-secrets/h-bridges-the-basics/. </a:t>
            </a:r>
            <a:endParaRPr sz="1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[4] 	</a:t>
            </a:r>
            <a:r>
              <a:rPr lang="en" sz="1200"/>
              <a:t>Agarwal, Tarun. “Analog to Digital Converter : Block Diagram, Types &amp; Its Applications.” ElProCus, 29 Jan. 2021, </a:t>
            </a:r>
            <a:endParaRPr sz="12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www.elprocus.com/analog-to-digital-converter/. </a:t>
            </a:r>
            <a:endParaRPr sz="1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[5]	</a:t>
            </a:r>
            <a:r>
              <a:rPr lang="en" sz="1200"/>
              <a:t>“Led Dimming Using the Pulse Option and PWM.” NIGHTSEA, 6 Mar. 2023, </a:t>
            </a:r>
            <a:endParaRPr sz="12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nightsea.com/articles/pwm-led-dimming/. </a:t>
            </a:r>
            <a:endParaRPr sz="1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[6]	“Sparkfun Single Lead Heart Rate Monitor - AD8232.” SEN-12650 - SparkFun Electronics, </a:t>
            </a:r>
            <a:endParaRPr sz="12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www.sparkfun.com/products/12650. Accessed 24 Apr. 2024. </a:t>
            </a:r>
            <a:endParaRPr sz="1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[7]	“QRS Complex.” Wikipedia, Wikimedia Foundation, 8 Apr. 2024, en.wikipedia.org/wiki/QRS_complex.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/ Outputs: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0625"/>
            <a:ext cx="8839200" cy="375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1150" y="235200"/>
            <a:ext cx="6005301" cy="451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0825" y="618100"/>
            <a:ext cx="4608175" cy="384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